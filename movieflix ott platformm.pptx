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4" r:id="rId1"/>
  </p:sldMasterIdLst>
  <p:sldIdLst>
    <p:sldId id="256" r:id="rId2"/>
    <p:sldId id="257" r:id="rId3"/>
    <p:sldId id="258" r:id="rId4"/>
    <p:sldId id="269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70" r:id="rId14"/>
    <p:sldId id="271" r:id="rId15"/>
    <p:sldId id="272" r:id="rId16"/>
    <p:sldId id="274" r:id="rId17"/>
    <p:sldId id="276" r:id="rId18"/>
    <p:sldId id="277" r:id="rId19"/>
    <p:sldId id="278" r:id="rId20"/>
    <p:sldId id="279" r:id="rId21"/>
    <p:sldId id="268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4AF39-5306-4F63-B363-8CD8178D5B32}" type="datetimeFigureOut">
              <a:rPr lang="en-IN" smtClean="0"/>
              <a:t>26-09-2024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A395-D837-46BA-9792-F563171443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6095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  <p:sndAc>
          <p:stSnd>
            <p:snd r:embed="rId1" name="camera.wav"/>
          </p:stSnd>
        </p:sndAc>
      </p:transition>
    </mc:Choice>
    <mc:Fallback xmlns="">
      <p:transition spd="slow">
        <p:fade/>
        <p:sndAc>
          <p:stSnd>
            <p:snd r:embed="rId3" name="camera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4AF39-5306-4F63-B363-8CD8178D5B32}" type="datetimeFigureOut">
              <a:rPr lang="en-IN" smtClean="0"/>
              <a:t>26-09-2024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A395-D837-46BA-9792-F563171443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79895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  <p:sndAc>
          <p:stSnd>
            <p:snd r:embed="rId1" name="camera.wav"/>
          </p:stSnd>
        </p:sndAc>
      </p:transition>
    </mc:Choice>
    <mc:Fallback xmlns="">
      <p:transition spd="slow">
        <p:fade/>
        <p:sndAc>
          <p:stSnd>
            <p:snd r:embed="rId3" name="camera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4AF39-5306-4F63-B363-8CD8178D5B32}" type="datetimeFigureOut">
              <a:rPr lang="en-IN" smtClean="0"/>
              <a:t>26-09-2024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A395-D837-46BA-9792-F563171443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87382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  <p:sndAc>
          <p:stSnd>
            <p:snd r:embed="rId1" name="camera.wav"/>
          </p:stSnd>
        </p:sndAc>
      </p:transition>
    </mc:Choice>
    <mc:Fallback xmlns="">
      <p:transition spd="slow">
        <p:fade/>
        <p:sndAc>
          <p:stSnd>
            <p:snd r:embed="rId3" name="camera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4AF39-5306-4F63-B363-8CD8178D5B32}" type="datetimeFigureOut">
              <a:rPr lang="en-IN" smtClean="0"/>
              <a:t>26-09-2024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A395-D837-46BA-9792-F563171443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87797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  <p:sndAc>
          <p:stSnd>
            <p:snd r:embed="rId1" name="camera.wav"/>
          </p:stSnd>
        </p:sndAc>
      </p:transition>
    </mc:Choice>
    <mc:Fallback xmlns="">
      <p:transition spd="slow">
        <p:fade/>
        <p:sndAc>
          <p:stSnd>
            <p:snd r:embed="rId3" name="camera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4AF39-5306-4F63-B363-8CD8178D5B32}" type="datetimeFigureOut">
              <a:rPr lang="en-IN" smtClean="0"/>
              <a:t>26-09-2024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A395-D837-46BA-9792-F563171443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1690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  <p:sndAc>
          <p:stSnd>
            <p:snd r:embed="rId1" name="camera.wav"/>
          </p:stSnd>
        </p:sndAc>
      </p:transition>
    </mc:Choice>
    <mc:Fallback xmlns="">
      <p:transition spd="slow">
        <p:fade/>
        <p:sndAc>
          <p:stSnd>
            <p:snd r:embed="rId4" name="camera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4AF39-5306-4F63-B363-8CD8178D5B32}" type="datetimeFigureOut">
              <a:rPr lang="en-IN" smtClean="0"/>
              <a:t>26-09-2024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A395-D837-46BA-9792-F563171443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0952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  <p:sndAc>
          <p:stSnd>
            <p:snd r:embed="rId1" name="camera.wav"/>
          </p:stSnd>
        </p:sndAc>
      </p:transition>
    </mc:Choice>
    <mc:Fallback xmlns="">
      <p:transition spd="slow">
        <p:fade/>
        <p:sndAc>
          <p:stSnd>
            <p:snd r:embed="rId3" name="camera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4AF39-5306-4F63-B363-8CD8178D5B32}" type="datetimeFigureOut">
              <a:rPr lang="en-IN" smtClean="0"/>
              <a:t>26-09-2024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A395-D837-46BA-9792-F563171443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92548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  <p:sndAc>
          <p:stSnd>
            <p:snd r:embed="rId1" name="camera.wav"/>
          </p:stSnd>
        </p:sndAc>
      </p:transition>
    </mc:Choice>
    <mc:Fallback xmlns="">
      <p:transition spd="slow">
        <p:fade/>
        <p:sndAc>
          <p:stSnd>
            <p:snd r:embed="rId3" name="camera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4AF39-5306-4F63-B363-8CD8178D5B32}" type="datetimeFigureOut">
              <a:rPr lang="en-IN" smtClean="0"/>
              <a:t>26-09-2024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A395-D837-46BA-9792-F563171443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08077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  <p:sndAc>
          <p:stSnd>
            <p:snd r:embed="rId1" name="camera.wav"/>
          </p:stSnd>
        </p:sndAc>
      </p:transition>
    </mc:Choice>
    <mc:Fallback xmlns="">
      <p:transition spd="slow">
        <p:fade/>
        <p:sndAc>
          <p:stSnd>
            <p:snd r:embed="rId3" name="camera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4AF39-5306-4F63-B363-8CD8178D5B32}" type="datetimeFigureOut">
              <a:rPr lang="en-IN" smtClean="0"/>
              <a:t>26-09-2024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A395-D837-46BA-9792-F563171443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81745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  <p:sndAc>
          <p:stSnd>
            <p:snd r:embed="rId1" name="camera.wav"/>
          </p:stSnd>
        </p:sndAc>
      </p:transition>
    </mc:Choice>
    <mc:Fallback xmlns="">
      <p:transition spd="slow">
        <p:fade/>
        <p:sndAc>
          <p:stSnd>
            <p:snd r:embed="rId4" name="camera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4AF39-5306-4F63-B363-8CD8178D5B32}" type="datetimeFigureOut">
              <a:rPr lang="en-IN" smtClean="0"/>
              <a:t>26-09-2024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A395-D837-46BA-9792-F563171443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17815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  <p:sndAc>
          <p:stSnd>
            <p:snd r:embed="rId1" name="camera.wav"/>
          </p:stSnd>
        </p:sndAc>
      </p:transition>
    </mc:Choice>
    <mc:Fallback xmlns="">
      <p:transition spd="slow">
        <p:fade/>
        <p:sndAc>
          <p:stSnd>
            <p:snd r:embed="rId4" name="camera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4AF39-5306-4F63-B363-8CD8178D5B32}" type="datetimeFigureOut">
              <a:rPr lang="en-IN" smtClean="0"/>
              <a:t>26-09-2024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A395-D837-46BA-9792-F563171443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04765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  <p:sndAc>
          <p:stSnd>
            <p:snd r:embed="rId1" name="camera.wav"/>
          </p:stSnd>
        </p:sndAc>
      </p:transition>
    </mc:Choice>
    <mc:Fallback xmlns="">
      <p:transition spd="slow">
        <p:fade/>
        <p:sndAc>
          <p:stSnd>
            <p:snd r:embed="rId3" name="camera.wav"/>
          </p:stSnd>
        </p:sndAc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4AF39-5306-4F63-B363-8CD8178D5B32}" type="datetimeFigureOut">
              <a:rPr lang="en-IN" smtClean="0"/>
              <a:t>26-09-2024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A395-D837-46BA-9792-F56317144356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903838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  <p:sndAc>
          <p:stSnd>
            <p:snd r:embed="rId1" name="camera.wav"/>
          </p:stSnd>
        </p:sndAc>
      </p:transition>
    </mc:Choice>
    <mc:Fallback xmlns="">
      <p:transition spd="slow">
        <p:fade/>
        <p:sndAc>
          <p:stSnd>
            <p:snd r:embed="rId3" name="camera.wav"/>
          </p:stSnd>
        </p:sndAc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4AF39-5306-4F63-B363-8CD8178D5B32}" type="datetimeFigureOut">
              <a:rPr lang="en-IN" smtClean="0"/>
              <a:t>26-09-2024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A395-D837-46BA-9792-F563171443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726012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  <p:sndAc>
          <p:stSnd>
            <p:snd r:embed="rId1" name="camera.wav"/>
          </p:stSnd>
        </p:sndAc>
      </p:transition>
    </mc:Choice>
    <mc:Fallback xmlns="">
      <p:transition spd="slow">
        <p:fade/>
        <p:sndAc>
          <p:stSnd>
            <p:snd r:embed="rId3" name="camera.wav"/>
          </p:stSnd>
        </p:sndAc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4AF39-5306-4F63-B363-8CD8178D5B32}" type="datetimeFigureOut">
              <a:rPr lang="en-IN" smtClean="0"/>
              <a:t>26-09-2024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A395-D837-46BA-9792-F563171443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124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  <p:sndAc>
          <p:stSnd>
            <p:snd r:embed="rId1" name="camera.wav"/>
          </p:stSnd>
        </p:sndAc>
      </p:transition>
    </mc:Choice>
    <mc:Fallback xmlns="">
      <p:transition spd="slow">
        <p:fade/>
        <p:sndAc>
          <p:stSnd>
            <p:snd r:embed="rId3" name="camera.wav"/>
          </p:stSnd>
        </p:sndAc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4AF39-5306-4F63-B363-8CD8178D5B32}" type="datetimeFigureOut">
              <a:rPr lang="en-IN" smtClean="0"/>
              <a:t>26-09-2024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A395-D837-46BA-9792-F563171443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45913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  <p:sndAc>
          <p:stSnd>
            <p:snd r:embed="rId1" name="camera.wav"/>
          </p:stSnd>
        </p:sndAc>
      </p:transition>
    </mc:Choice>
    <mc:Fallback xmlns="">
      <p:transition spd="slow">
        <p:fade/>
        <p:sndAc>
          <p:stSnd>
            <p:snd r:embed="rId4" name="camera.wav"/>
          </p:stSnd>
        </p:sndAc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4AF39-5306-4F63-B363-8CD8178D5B32}" type="datetimeFigureOut">
              <a:rPr lang="en-IN" smtClean="0"/>
              <a:t>26-09-2024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A395-D837-46BA-9792-F563171443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2793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  <p:sndAc>
          <p:stSnd>
            <p:snd r:embed="rId1" name="camera.wav"/>
          </p:stSnd>
        </p:sndAc>
      </p:transition>
    </mc:Choice>
    <mc:Fallback xmlns="">
      <p:transition spd="slow">
        <p:fade/>
        <p:sndAc>
          <p:stSnd>
            <p:snd r:embed="rId3" name="camera.wav"/>
          </p:stSnd>
        </p:sndAc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4AF39-5306-4F63-B363-8CD8178D5B32}" type="datetimeFigureOut">
              <a:rPr lang="en-IN" smtClean="0"/>
              <a:t>26-09-2024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A395-D837-46BA-9792-F563171443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14891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  <p:sndAc>
          <p:stSnd>
            <p:snd r:embed="rId1" name="camera.wav"/>
          </p:stSnd>
        </p:sndAc>
      </p:transition>
    </mc:Choice>
    <mc:Fallback xmlns="">
      <p:transition spd="slow">
        <p:fade/>
        <p:sndAc>
          <p:stSnd>
            <p:snd r:embed="rId3" name="camera.wav"/>
          </p:stSnd>
        </p:sndAc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4AF39-5306-4F63-B363-8CD8178D5B32}" type="datetimeFigureOut">
              <a:rPr lang="en-IN" smtClean="0"/>
              <a:t>26-09-2024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A395-D837-46BA-9792-F563171443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66801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  <p:sndAc>
          <p:stSnd>
            <p:snd r:embed="rId1" name="camera.wav"/>
          </p:stSnd>
        </p:sndAc>
      </p:transition>
    </mc:Choice>
    <mc:Fallback xmlns="">
      <p:transition spd="slow">
        <p:fade/>
        <p:sndAc>
          <p:stSnd>
            <p:snd r:embed="rId3" name="camera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audio" Target="../media/audio1.wav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99C4AF39-5306-4F63-B363-8CD8178D5B32}" type="datetimeFigureOut">
              <a:rPr lang="en-IN" smtClean="0"/>
              <a:t>26-09-2024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4ADA395-D837-46BA-9792-F563171443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11576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  <p:sldLayoutId id="2147483746" r:id="rId12"/>
    <p:sldLayoutId id="2147483747" r:id="rId13"/>
    <p:sldLayoutId id="2147483748" r:id="rId14"/>
    <p:sldLayoutId id="2147483749" r:id="rId15"/>
    <p:sldLayoutId id="2147483750" r:id="rId16"/>
    <p:sldLayoutId id="2147483751" r:id="rId17"/>
    <p:sldLayoutId id="2147483752" r:id="rId18"/>
  </p:sldLayoutIdLst>
  <mc:AlternateContent xmlns:mc="http://schemas.openxmlformats.org/markup-compatibility/2006" xmlns:p15="http://schemas.microsoft.com/office/powerpoint/2012/main">
    <mc:Choice Requires="p15">
      <p:transition spd="slow">
        <p15:prstTrans prst="peelOff"/>
        <p:sndAc>
          <p:stSnd>
            <p:snd r:embed="rId20" name="camera.wav"/>
          </p:stSnd>
        </p:sndAc>
      </p:transition>
    </mc:Choice>
    <mc:Fallback xmlns="">
      <p:transition spd="slow">
        <p:fade/>
        <p:sndAc>
          <p:stSnd>
            <p:snd r:embed="rId21" name="camera.wav"/>
          </p:stSnd>
        </p:sndAc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8.xml"/><Relationship Id="rId4" Type="http://schemas.openxmlformats.org/officeDocument/2006/relationships/audio" Target="../media/audio1.wav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8.xml"/><Relationship Id="rId4" Type="http://schemas.openxmlformats.org/officeDocument/2006/relationships/audio" Target="../media/audio1.wav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66E9F-8DA3-58FE-6BA0-BFB20C9F51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7270" y="1400703"/>
            <a:ext cx="9448800" cy="1825096"/>
          </a:xfrm>
        </p:spPr>
        <p:txBody>
          <a:bodyPr/>
          <a:lstStyle/>
          <a:p>
            <a:pPr algn="ctr"/>
            <a:r>
              <a:rPr lang="en-IN" b="1" u="sng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MovieFlix</a:t>
            </a:r>
            <a:r>
              <a:rPr lang="en-IN" b="1" u="sng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OTT Platform</a:t>
            </a:r>
            <a:b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26D0B2-109D-4C9F-4806-AC5D1350BA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1090628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Raj Jain (21004500210051)</a:t>
            </a:r>
          </a:p>
          <a:p>
            <a:r>
              <a:rPr lang="en-IN" dirty="0" err="1"/>
              <a:t>Monil</a:t>
            </a:r>
            <a:r>
              <a:rPr lang="en-IN" dirty="0"/>
              <a:t> Jain (21004500210050)</a:t>
            </a:r>
          </a:p>
          <a:p>
            <a:r>
              <a:rPr lang="en-IN" dirty="0"/>
              <a:t>Parth </a:t>
            </a:r>
            <a:r>
              <a:rPr lang="en-IN" dirty="0" err="1"/>
              <a:t>Bhayani</a:t>
            </a:r>
            <a:r>
              <a:rPr lang="en-IN" dirty="0"/>
              <a:t> (21004500210018)</a:t>
            </a:r>
          </a:p>
        </p:txBody>
      </p:sp>
    </p:spTree>
    <p:extLst>
      <p:ext uri="{BB962C8B-B14F-4D97-AF65-F5344CB8AC3E}">
        <p14:creationId xmlns:p14="http://schemas.microsoft.com/office/powerpoint/2010/main" val="11788527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  <p:sndAc>
          <p:stSnd>
            <p:snd r:embed="rId2" name="camera.wav"/>
          </p:stSnd>
        </p:sndAc>
      </p:transition>
    </mc:Choice>
    <mc:Fallback xmlns="">
      <p:transition spd="slow">
        <p:fade/>
        <p:sndAc>
          <p:stSnd>
            <p:snd r:embed="rId3" name="camera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95569-37B6-156B-3EB9-004703643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Introduction</a:t>
            </a:r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02C6C-9134-A085-8379-669BC0C4A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10820400" cy="4385349"/>
          </a:xfrm>
        </p:spPr>
        <p:txBody>
          <a:bodyPr/>
          <a:lstStyle/>
          <a:p>
            <a:pPr marL="342900" lvl="0" indent="-342900">
              <a:lnSpc>
                <a:spcPct val="107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80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2800" kern="12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movieflix</a:t>
            </a:r>
            <a:r>
              <a:rPr lang="en-US" sz="280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kern="12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ott</a:t>
            </a:r>
            <a:r>
              <a:rPr lang="en-US" sz="280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platform is a platform which shows the movies &amp; series digitally through internet in </a:t>
            </a:r>
            <a:r>
              <a:rPr lang="en-US" sz="2800" kern="12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mobiles,laptop</a:t>
            </a:r>
            <a:r>
              <a:rPr lang="en-US" sz="280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etc.</a:t>
            </a:r>
            <a:endParaRPr lang="en-IN" sz="2800" kern="1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80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 streaming service that allows our members to watch TV shows and movies on internet connected devices.</a:t>
            </a:r>
            <a:endParaRPr lang="en-IN" sz="2800" kern="1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9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97131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  <p:sndAc>
          <p:stSnd>
            <p:snd r:embed="rId2" name="camera.wav"/>
          </p:stSnd>
        </p:sndAc>
      </p:transition>
    </mc:Choice>
    <mc:Fallback xmlns="">
      <p:transition spd="slow">
        <p:fade/>
        <p:sndAc>
          <p:stSnd>
            <p:snd r:embed="rId3" name="camera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EE373-F71C-8A2A-C8D6-E4B31263A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800" u="sng" dirty="0"/>
              <a:t>Objectives</a:t>
            </a:r>
            <a:endParaRPr lang="en-IN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420A4-DD62-8D8F-8958-2F2F6DF72E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1"/>
            <a:ext cx="10820400" cy="3452096"/>
          </a:xfrm>
        </p:spPr>
        <p:txBody>
          <a:bodyPr>
            <a:normAutofit fontScale="92500" lnSpcReduction="20000"/>
          </a:bodyPr>
          <a:lstStyle/>
          <a:p>
            <a:endParaRPr lang="en-US" dirty="0"/>
          </a:p>
          <a:p>
            <a:r>
              <a:rPr lang="en-US" sz="2600" dirty="0"/>
              <a:t>1. </a:t>
            </a:r>
            <a:r>
              <a:rPr lang="en-IN" sz="2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Content Delivery and Accessibility : </a:t>
            </a:r>
            <a:r>
              <a:rPr lang="en-IN" sz="2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Ensuring that content is accessible across various devices, including smartphones, tablets, smart TVs, and computers, is a core objective.</a:t>
            </a:r>
          </a:p>
          <a:p>
            <a:pPr marL="36900" indent="0">
              <a:buNone/>
            </a:pPr>
            <a:endParaRPr lang="en-US" sz="2600" dirty="0"/>
          </a:p>
          <a:p>
            <a:r>
              <a:rPr lang="en-US" sz="2600" dirty="0"/>
              <a:t>2. </a:t>
            </a:r>
            <a:r>
              <a:rPr lang="en-IN" sz="2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Content Protection and Legal Compliance :</a:t>
            </a:r>
            <a:r>
              <a:rPr lang="en-IN" sz="2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OTT platforms must ensure they comply with legal and regulatory</a:t>
            </a:r>
          </a:p>
          <a:p>
            <a:pPr marL="36900" indent="0">
              <a:buNone/>
            </a:pPr>
            <a:r>
              <a:rPr lang="en-IN" sz="2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2600" dirty="0"/>
          </a:p>
          <a:p>
            <a:r>
              <a:rPr lang="en-US" sz="2600" dirty="0"/>
              <a:t>3. </a:t>
            </a:r>
            <a:r>
              <a:rPr lang="en-IN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Content Creation and Acquisition: </a:t>
            </a:r>
            <a:r>
              <a:rPr lang="en-IN" sz="2200" b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OTT platforms focus on producing exclusive original content that cannot be found elsewhere, driving subscriptions and viewer loyalty.</a:t>
            </a:r>
            <a:endParaRPr lang="en-IN" sz="2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7477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  <p:sndAc>
          <p:stSnd>
            <p:snd r:embed="rId2" name="camera.wav"/>
          </p:stSnd>
        </p:sndAc>
      </p:transition>
    </mc:Choice>
    <mc:Fallback xmlns="">
      <p:transition spd="slow">
        <p:fade/>
        <p:sndAc>
          <p:stSnd>
            <p:snd r:embed="rId3" name="camera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9C3CA-2CF9-9AAB-3E34-2DD0D013F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u="sng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8E480-8401-42F8-0E08-756EE41A09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144" y="2105145"/>
            <a:ext cx="10821971" cy="3984569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sz="2800" dirty="0"/>
              <a:t>4. </a:t>
            </a:r>
            <a:r>
              <a:rPr lang="en-IN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User Experience and Engagement:</a:t>
            </a:r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OTT platforms focus on delivering a seamless, intuitive, and personalized user experience. </a:t>
            </a:r>
          </a:p>
          <a:p>
            <a:pPr marL="36900" indent="0">
              <a:buNone/>
            </a:pPr>
            <a:endParaRPr lang="en-US" sz="2800" dirty="0"/>
          </a:p>
          <a:p>
            <a:r>
              <a:rPr lang="en-US" sz="2800" dirty="0"/>
              <a:t>5. </a:t>
            </a:r>
            <a:r>
              <a:rPr lang="en-IN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 Utilization and Personalization:</a:t>
            </a: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OTT platforms use data analytics to understand user preferences and </a:t>
            </a:r>
            <a:r>
              <a:rPr lang="en-IN" sz="24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behaviors</a:t>
            </a: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offering personalized content recommendations and targeted marketing.</a:t>
            </a:r>
          </a:p>
        </p:txBody>
      </p:sp>
    </p:spTree>
    <p:extLst>
      <p:ext uri="{BB962C8B-B14F-4D97-AF65-F5344CB8AC3E}">
        <p14:creationId xmlns:p14="http://schemas.microsoft.com/office/powerpoint/2010/main" val="30758022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  <p:sndAc>
          <p:stSnd>
            <p:snd r:embed="rId2" name="camera.wav"/>
          </p:stSnd>
        </p:sndAc>
      </p:transition>
    </mc:Choice>
    <mc:Fallback xmlns="">
      <p:transition spd="slow">
        <p:fade/>
        <p:sndAc>
          <p:stSnd>
            <p:snd r:embed="rId3" name="camera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6DDF6-BC2B-0DA4-25A9-B6A295703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u="sng" dirty="0"/>
              <a:t>Project Profile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2C29A85-6978-44C7-0CB3-4C865110A0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8331702"/>
              </p:ext>
            </p:extLst>
          </p:nvPr>
        </p:nvGraphicFramePr>
        <p:xfrm>
          <a:off x="572679" y="2618130"/>
          <a:ext cx="10820400" cy="2606675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410200">
                  <a:extLst>
                    <a:ext uri="{9D8B030D-6E8A-4147-A177-3AD203B41FA5}">
                      <a16:colId xmlns:a16="http://schemas.microsoft.com/office/drawing/2014/main" val="2980839585"/>
                    </a:ext>
                  </a:extLst>
                </a:gridCol>
                <a:gridCol w="5410200">
                  <a:extLst>
                    <a:ext uri="{9D8B030D-6E8A-4147-A177-3AD203B41FA5}">
                      <a16:colId xmlns:a16="http://schemas.microsoft.com/office/drawing/2014/main" val="3806619011"/>
                    </a:ext>
                  </a:extLst>
                </a:gridCol>
              </a:tblGrid>
              <a:tr h="521335">
                <a:tc>
                  <a:txBody>
                    <a:bodyPr/>
                    <a:lstStyle/>
                    <a:p>
                      <a:r>
                        <a:rPr lang="en-IN" dirty="0"/>
                        <a:t>Project Name</a:t>
                      </a:r>
                    </a:p>
                  </a:txBody>
                  <a:tcPr marL="94091" marR="940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u="none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MovieFlix</a:t>
                      </a:r>
                      <a:r>
                        <a:rPr lang="en-IN" b="1" u="none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OTT Platform</a:t>
                      </a:r>
                      <a:endParaRPr lang="en-IN" u="none" dirty="0"/>
                    </a:p>
                  </a:txBody>
                  <a:tcPr marL="94091" marR="94091"/>
                </a:tc>
                <a:extLst>
                  <a:ext uri="{0D108BD9-81ED-4DB2-BD59-A6C34878D82A}">
                    <a16:rowId xmlns:a16="http://schemas.microsoft.com/office/drawing/2014/main" val="2463843944"/>
                  </a:ext>
                </a:extLst>
              </a:tr>
              <a:tr h="521335">
                <a:tc>
                  <a:txBody>
                    <a:bodyPr/>
                    <a:lstStyle/>
                    <a:p>
                      <a:r>
                        <a:rPr lang="en-IN" dirty="0"/>
                        <a:t>Developed by</a:t>
                      </a:r>
                    </a:p>
                  </a:txBody>
                  <a:tcPr marL="94091" marR="940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Raj Jain, </a:t>
                      </a:r>
                      <a:r>
                        <a:rPr lang="en-IN" dirty="0" err="1"/>
                        <a:t>Monil</a:t>
                      </a:r>
                      <a:r>
                        <a:rPr lang="en-IN" dirty="0"/>
                        <a:t> Jain, Parth </a:t>
                      </a:r>
                      <a:r>
                        <a:rPr lang="en-IN" dirty="0" err="1"/>
                        <a:t>Bhayani</a:t>
                      </a:r>
                      <a:endParaRPr lang="en-IN" dirty="0"/>
                    </a:p>
                  </a:txBody>
                  <a:tcPr marL="94091" marR="94091"/>
                </a:tc>
                <a:extLst>
                  <a:ext uri="{0D108BD9-81ED-4DB2-BD59-A6C34878D82A}">
                    <a16:rowId xmlns:a16="http://schemas.microsoft.com/office/drawing/2014/main" val="3907749402"/>
                  </a:ext>
                </a:extLst>
              </a:tr>
              <a:tr h="521335">
                <a:tc>
                  <a:txBody>
                    <a:bodyPr/>
                    <a:lstStyle/>
                    <a:p>
                      <a:r>
                        <a:rPr lang="en-IN" dirty="0"/>
                        <a:t>Front-end</a:t>
                      </a:r>
                    </a:p>
                  </a:txBody>
                  <a:tcPr marL="94091" marR="940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HTML 5, tailwind CSS 4, JavaScript, React.js</a:t>
                      </a:r>
                      <a:endParaRPr lang="en-IN" dirty="0"/>
                    </a:p>
                  </a:txBody>
                  <a:tcPr marL="94091" marR="94091"/>
                </a:tc>
                <a:extLst>
                  <a:ext uri="{0D108BD9-81ED-4DB2-BD59-A6C34878D82A}">
                    <a16:rowId xmlns:a16="http://schemas.microsoft.com/office/drawing/2014/main" val="775384100"/>
                  </a:ext>
                </a:extLst>
              </a:tr>
              <a:tr h="521335">
                <a:tc>
                  <a:txBody>
                    <a:bodyPr/>
                    <a:lstStyle/>
                    <a:p>
                      <a:r>
                        <a:rPr lang="en-IN" dirty="0"/>
                        <a:t>Back-end</a:t>
                      </a:r>
                    </a:p>
                  </a:txBody>
                  <a:tcPr marL="94091" marR="940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Node.js, MongoDB, Express.js, Movie </a:t>
                      </a:r>
                      <a:r>
                        <a:rPr lang="en-I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db</a:t>
                      </a:r>
                      <a:endParaRPr lang="en-IN" dirty="0"/>
                    </a:p>
                  </a:txBody>
                  <a:tcPr marL="94091" marR="94091"/>
                </a:tc>
                <a:extLst>
                  <a:ext uri="{0D108BD9-81ED-4DB2-BD59-A6C34878D82A}">
                    <a16:rowId xmlns:a16="http://schemas.microsoft.com/office/drawing/2014/main" val="1205262919"/>
                  </a:ext>
                </a:extLst>
              </a:tr>
              <a:tr h="521335">
                <a:tc>
                  <a:txBody>
                    <a:bodyPr/>
                    <a:lstStyle/>
                    <a:p>
                      <a:r>
                        <a:rPr lang="en-IN" dirty="0"/>
                        <a:t>Tools</a:t>
                      </a:r>
                    </a:p>
                  </a:txBody>
                  <a:tcPr marL="94091" marR="940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Visual Studio Code 1.8</a:t>
                      </a:r>
                      <a:endParaRPr lang="en-IN" dirty="0"/>
                    </a:p>
                  </a:txBody>
                  <a:tcPr marL="94091" marR="94091"/>
                </a:tc>
                <a:extLst>
                  <a:ext uri="{0D108BD9-81ED-4DB2-BD59-A6C34878D82A}">
                    <a16:rowId xmlns:a16="http://schemas.microsoft.com/office/drawing/2014/main" val="3377645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17295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  <p:sndAc>
          <p:stSnd>
            <p:snd r:embed="rId2" name="camera.wav"/>
          </p:stSnd>
        </p:sndAc>
      </p:transition>
    </mc:Choice>
    <mc:Fallback xmlns="">
      <p:transition spd="slow">
        <p:fade/>
        <p:sndAc>
          <p:stSnd>
            <p:snd r:embed="rId3" name="camera.wav"/>
          </p:stSnd>
        </p:sndAc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7E328-3D3F-660A-8AD7-AE27E83B2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u="sng" dirty="0"/>
              <a:t>Targeted users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938BB-D7A6-6A79-DDF9-776ACB9F2E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Admin</a:t>
            </a:r>
          </a:p>
          <a:p>
            <a:r>
              <a:rPr lang="en-IN" dirty="0"/>
              <a:t>Users</a:t>
            </a:r>
          </a:p>
        </p:txBody>
      </p:sp>
    </p:spTree>
    <p:extLst>
      <p:ext uri="{BB962C8B-B14F-4D97-AF65-F5344CB8AC3E}">
        <p14:creationId xmlns:p14="http://schemas.microsoft.com/office/powerpoint/2010/main" val="303778760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  <p:sndAc>
          <p:stSnd>
            <p:snd r:embed="rId2" name="camera.wav"/>
          </p:stSnd>
        </p:sndAc>
      </p:transition>
    </mc:Choice>
    <mc:Fallback xmlns="">
      <p:transition spd="slow">
        <p:fade/>
        <p:sndAc>
          <p:stSnd>
            <p:snd r:embed="rId3" name="camera.wav"/>
          </p:stSnd>
        </p:sndAc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DD363-AD48-DAD1-E442-6D708E992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u="sng" dirty="0"/>
              <a:t>Project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47042-7711-A644-4AC3-4592A96979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sz="2800" dirty="0"/>
              <a:t>An </a:t>
            </a:r>
            <a:r>
              <a:rPr lang="en-US" sz="2800" dirty="0" err="1"/>
              <a:t>MovieFlix</a:t>
            </a:r>
            <a:r>
              <a:rPr lang="en-US" sz="2800" dirty="0"/>
              <a:t> OTT platform involves outlining the core aspects of the project, including objectives, scope, target audience, features, technology stack, and timeline.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7353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  <p:sndAc>
          <p:stSnd>
            <p:snd r:embed="rId2" name="camera.wav"/>
          </p:stSnd>
        </p:sndAc>
      </p:transition>
    </mc:Choice>
    <mc:Fallback xmlns="">
      <p:transition spd="slow">
        <p:fade/>
        <p:sndAc>
          <p:stSnd>
            <p:snd r:embed="rId3" name="camera.wav"/>
          </p:stSnd>
        </p:sndAc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AA121-EF2D-B084-1801-C32565992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u="sng" dirty="0"/>
              <a:t>Assumption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CD5D8-188A-6C3B-6C10-E24FE6D63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690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sz="2400" dirty="0"/>
              <a:t>There is a continuous increase in consumer preference for on-demand streaming services over traditional TV.</a:t>
            </a:r>
          </a:p>
          <a:p>
            <a:r>
              <a:rPr lang="en-US" sz="2400" dirty="0"/>
              <a:t>Users have access to high-speed internet, which supports HD and UHD streaming.</a:t>
            </a:r>
          </a:p>
          <a:p>
            <a:r>
              <a:rPr lang="en-US" sz="2400" dirty="0"/>
              <a:t>Users will set realistic budget limits and track expenses carefully to avoid overspending.</a:t>
            </a:r>
          </a:p>
          <a:p>
            <a:r>
              <a:rPr lang="en-US" sz="2400" dirty="0"/>
              <a:t> The platform will be designed to scale with increasing user demand and content volume.</a:t>
            </a:r>
          </a:p>
        </p:txBody>
      </p:sp>
    </p:spTree>
    <p:extLst>
      <p:ext uri="{BB962C8B-B14F-4D97-AF65-F5344CB8AC3E}">
        <p14:creationId xmlns:p14="http://schemas.microsoft.com/office/powerpoint/2010/main" val="13369172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  <p:sndAc>
          <p:stSnd>
            <p:snd r:embed="rId2" name="camera.wav"/>
          </p:stSnd>
        </p:sndAc>
      </p:transition>
    </mc:Choice>
    <mc:Fallback xmlns="">
      <p:transition spd="slow">
        <p:fade/>
        <p:sndAc>
          <p:stSnd>
            <p:snd r:embed="rId3" name="camera.wav"/>
          </p:stSnd>
        </p:sndAc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AD9F8-ACC9-81E9-4C7F-D7CA97099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u="sng" dirty="0"/>
              <a:t>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6C4BE-F092-1A28-741E-39401338B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sz="2800" dirty="0"/>
              <a:t>Ensuring the platform can handle growing numbers of users and content without performance degradation. </a:t>
            </a:r>
          </a:p>
          <a:p>
            <a:r>
              <a:rPr lang="en-US" sz="2800" dirty="0"/>
              <a:t>Frequent updates and changes in device firmware or operating systems can affect compatibility.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545316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  <p:sndAc>
          <p:stSnd>
            <p:snd r:embed="rId2" name="camera.wav"/>
          </p:stSnd>
        </p:sndAc>
      </p:transition>
    </mc:Choice>
    <mc:Fallback xmlns="">
      <p:transition spd="slow">
        <p:fade/>
        <p:sndAc>
          <p:stSnd>
            <p:snd r:embed="rId3" name="camera.wav"/>
          </p:stSnd>
        </p:sndAc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3B6E7-3395-7925-F22B-B1156D42A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800" u="sng" dirty="0"/>
              <a:t>Advantages</a:t>
            </a:r>
            <a:endParaRPr lang="en-IN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2125D-74E6-B003-EED1-7FAAC4B342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sz="18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8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Anytime, Anywhere Access</a:t>
            </a:r>
            <a:r>
              <a:rPr lang="en-IN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OTT platforms allow users to watch content on-demand, whenever and wherever they want, as long as they have an internet connection. This flexibility is a significant advantage over traditional media.</a:t>
            </a:r>
          </a:p>
          <a:p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Multi-Device Compatibility</a:t>
            </a:r>
            <a:r>
              <a:rPr lang="en-IN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Content can be accessed across various devices, including smartphones, tablets, smart TVs, gaming consoles, and computers, making it easy for users to watch on their preferred screen.</a:t>
            </a:r>
          </a:p>
          <a:p>
            <a:r>
              <a:rPr lang="en-IN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Customizable Viewing Experience</a:t>
            </a:r>
            <a:r>
              <a:rPr lang="en-IN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Users can create profiles, set preferences, and enjoy features like subtitles, multiple language options, and adjustable playback settings.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81192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  <p:sndAc>
          <p:stSnd>
            <p:snd r:embed="rId2" name="camera.wav"/>
          </p:stSnd>
        </p:sndAc>
      </p:transition>
    </mc:Choice>
    <mc:Fallback xmlns="">
      <p:transition spd="slow">
        <p:fade/>
        <p:sndAc>
          <p:stSnd>
            <p:snd r:embed="rId3" name="camera.wav"/>
          </p:stSnd>
        </p:sndAc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B7F14-7190-B1C9-4597-0497555BB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u="sng" dirty="0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B91CB-DD1D-1024-E297-83E8C1BB6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/>
          </a:p>
          <a:p>
            <a:endParaRPr lang="en-US" b="1" dirty="0"/>
          </a:p>
          <a:p>
            <a:r>
              <a:rPr lang="en-US" sz="2400" b="1" dirty="0"/>
              <a:t>Buffering and Latency:</a:t>
            </a:r>
            <a:r>
              <a:rPr lang="en-US" sz="2400" dirty="0"/>
              <a:t> Users may experience buffering or latency issues depending on their network conditions and the platform’s content delivery infrastructure.</a:t>
            </a:r>
          </a:p>
          <a:p>
            <a:r>
              <a:rPr lang="en-US" sz="2400" b="1" dirty="0"/>
              <a:t>Geo-blocking:</a:t>
            </a:r>
            <a:r>
              <a:rPr lang="en-US" sz="2400" dirty="0"/>
              <a:t> Users may face restrictions based on their geographic location, which can limit access to certain content.</a:t>
            </a:r>
          </a:p>
          <a:p>
            <a:r>
              <a:rPr lang="en-US" sz="2400" b="1" dirty="0"/>
              <a:t>Constant Innovation:</a:t>
            </a:r>
            <a:r>
              <a:rPr lang="en-US" sz="2400" dirty="0"/>
              <a:t> The need to continually innovate and offer new features to stay competitive can strain resources.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453035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  <p:sndAc>
          <p:stSnd>
            <p:snd r:embed="rId2" name="camera.wav"/>
          </p:stSnd>
        </p:sndAc>
      </p:transition>
    </mc:Choice>
    <mc:Fallback xmlns="">
      <p:transition spd="slow">
        <p:fade/>
        <p:sndAc>
          <p:stSnd>
            <p:snd r:embed="rId3" name="camera.wav"/>
          </p:stSnd>
        </p:sndAc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091CF-AAF6-49C8-5325-770706BE2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u="sng" dirty="0"/>
              <a:t>Requirement Determination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A28ED-3228-AACD-C526-134CABCF7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endParaRPr lang="en-IN" sz="18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endParaRPr lang="en-IN" sz="18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Needs:</a:t>
            </a: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Identify what features users need, like guest registration, budget tracking, and communication tools, to ensure the system meets their requirements.</a:t>
            </a:r>
            <a:endParaRPr lang="en-IN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Security Needs:</a:t>
            </a: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Determine the level of data security required to protect sensitive information, such as personal details and payment data.</a:t>
            </a:r>
            <a:endParaRPr lang="en-IN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4367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  <p:sndAc>
          <p:stSnd>
            <p:snd r:embed="rId2" name="camera.wav"/>
          </p:stSnd>
        </p:sndAc>
      </p:transition>
    </mc:Choice>
    <mc:Fallback xmlns="">
      <p:transition spd="slow">
        <p:fade/>
        <p:sndAc>
          <p:stSnd>
            <p:snd r:embed="rId3" name="camera.wav"/>
          </p:stSnd>
        </p:sndAc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BE134-8991-BD4B-74C3-7381CF1FE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6" y="618517"/>
            <a:ext cx="7306398" cy="5490052"/>
          </a:xfrm>
        </p:spPr>
        <p:txBody>
          <a:bodyPr>
            <a:normAutofit/>
          </a:bodyPr>
          <a:lstStyle/>
          <a:p>
            <a:br>
              <a:rPr lang="en-US" sz="4800" u="sng" dirty="0"/>
            </a:br>
            <a:r>
              <a:rPr lang="en-US" sz="4800" u="sng" dirty="0"/>
              <a:t>Screenshot’s</a:t>
            </a:r>
            <a:endParaRPr lang="en-IN" sz="4800" u="sng" dirty="0"/>
          </a:p>
        </p:txBody>
      </p:sp>
    </p:spTree>
    <p:extLst>
      <p:ext uri="{BB962C8B-B14F-4D97-AF65-F5344CB8AC3E}">
        <p14:creationId xmlns:p14="http://schemas.microsoft.com/office/powerpoint/2010/main" val="1837204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  <p:sndAc>
          <p:stSnd>
            <p:snd r:embed="rId2" name="camera.wav"/>
          </p:stSnd>
        </p:sndAc>
      </p:transition>
    </mc:Choice>
    <mc:Fallback xmlns="">
      <p:transition spd="slow">
        <p:fade/>
        <p:sndAc>
          <p:stSnd>
            <p:snd r:embed="rId3" name="camera.wav"/>
          </p:stSnd>
        </p:sndAc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FE231-8802-9229-8C56-8F0B7B6DF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800" y="109470"/>
            <a:ext cx="10364451" cy="1050028"/>
          </a:xfrm>
        </p:spPr>
        <p:txBody>
          <a:bodyPr/>
          <a:lstStyle/>
          <a:p>
            <a:r>
              <a:rPr lang="en-US" dirty="0"/>
              <a:t>Home page: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7B526EF-F7E2-E672-ADB5-0A93A0A4B65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106" y="1677972"/>
            <a:ext cx="9059158" cy="4534291"/>
          </a:xfrm>
        </p:spPr>
      </p:pic>
    </p:spTree>
    <p:extLst>
      <p:ext uri="{BB962C8B-B14F-4D97-AF65-F5344CB8AC3E}">
        <p14:creationId xmlns:p14="http://schemas.microsoft.com/office/powerpoint/2010/main" val="27199780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  <p:sndAc>
          <p:stSnd>
            <p:snd r:embed="rId2" name="camera.wav"/>
          </p:stSnd>
        </p:sndAc>
      </p:transition>
    </mc:Choice>
    <mc:Fallback xmlns="">
      <p:transition spd="slow">
        <p:fade/>
        <p:sndAc>
          <p:stSnd>
            <p:snd r:embed="rId4" name="camera.wav"/>
          </p:stSnd>
        </p:sndAc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19A01-639A-1260-6336-63174EB59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2540" y="69889"/>
            <a:ext cx="8610600" cy="1293028"/>
          </a:xfrm>
        </p:spPr>
        <p:txBody>
          <a:bodyPr>
            <a:normAutofit/>
          </a:bodyPr>
          <a:lstStyle/>
          <a:p>
            <a:r>
              <a:rPr lang="en-IN" sz="4800" u="sng" dirty="0"/>
              <a:t>Register Page: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3552965-7881-77F3-A77B-D16F4397CB6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725105" y="1278814"/>
            <a:ext cx="9856510" cy="543388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776377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  <p:sndAc>
          <p:stSnd>
            <p:snd r:embed="rId2" name="camera.wav"/>
          </p:stSnd>
        </p:sndAc>
      </p:transition>
    </mc:Choice>
    <mc:Fallback xmlns="">
      <p:transition spd="slow">
        <p:fade/>
        <p:sndAc>
          <p:stSnd>
            <p:snd r:embed="rId4" name="camera.wav"/>
          </p:stSnd>
        </p:sndAc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94611-9FC2-739B-A179-70F3C002B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8210" y="0"/>
            <a:ext cx="8610600" cy="1159497"/>
          </a:xfrm>
        </p:spPr>
        <p:txBody>
          <a:bodyPr>
            <a:normAutofit/>
          </a:bodyPr>
          <a:lstStyle/>
          <a:p>
            <a:r>
              <a:rPr lang="en-IN" sz="4800" u="sng" dirty="0"/>
              <a:t>Login Page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78A98F9-925D-3E92-D9CB-FB8979E7FC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885361" y="1217787"/>
            <a:ext cx="9898144" cy="556770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147866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  <p:sndAc>
          <p:stSnd>
            <p:snd r:embed="rId2" name="camera.wav"/>
          </p:stSnd>
        </p:sndAc>
      </p:transition>
    </mc:Choice>
    <mc:Fallback xmlns="">
      <p:transition spd="slow">
        <p:fade/>
        <p:sndAc>
          <p:stSnd>
            <p:snd r:embed="rId4" name="camera.wav"/>
          </p:stSnd>
        </p:sndAc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E8961-5474-35E4-19E7-49ACF999E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3624" y="-6752"/>
            <a:ext cx="8610600" cy="1293028"/>
          </a:xfrm>
        </p:spPr>
        <p:txBody>
          <a:bodyPr>
            <a:normAutofit/>
          </a:bodyPr>
          <a:lstStyle/>
          <a:p>
            <a:r>
              <a:rPr lang="en-US" sz="4800" u="sng" dirty="0"/>
              <a:t>Log Out</a:t>
            </a:r>
            <a:endParaRPr lang="en-IN" sz="4800" u="sng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0EF1F03-4DB3-C5B3-8511-897B5B5F42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974463" y="1286275"/>
            <a:ext cx="9528215" cy="535962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490079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  <p:sndAc>
          <p:stSnd>
            <p:snd r:embed="rId2" name="camera.wav"/>
          </p:stSnd>
        </p:sndAc>
      </p:transition>
    </mc:Choice>
    <mc:Fallback xmlns="">
      <p:transition spd="slow">
        <p:fade/>
        <p:sndAc>
          <p:stSnd>
            <p:snd r:embed="rId4" name="camera.wav"/>
          </p:stSnd>
        </p:sndAc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40944-CF9D-3605-70B1-2D55D8635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8783" y="-6752"/>
            <a:ext cx="8610600" cy="1293028"/>
          </a:xfrm>
        </p:spPr>
        <p:txBody>
          <a:bodyPr/>
          <a:lstStyle/>
          <a:p>
            <a:r>
              <a:rPr lang="en-US" dirty="0"/>
              <a:t>Search movies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D9C2B0E-5607-DFD3-F420-C5E2112C05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83325" y="1249012"/>
            <a:ext cx="9539924" cy="53662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856821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  <p:sndAc>
          <p:stSnd>
            <p:snd r:embed="rId2" name="camera.wav"/>
          </p:stSnd>
        </p:sndAc>
      </p:transition>
    </mc:Choice>
    <mc:Fallback xmlns="">
      <p:transition spd="slow">
        <p:fade/>
        <p:sndAc>
          <p:stSnd>
            <p:snd r:embed="rId4" name="camera.wav"/>
          </p:stSnd>
        </p:sndAc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C8A58-3BBD-CAE4-3FA6-4DB9F301A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400" y="170485"/>
            <a:ext cx="8610600" cy="1073854"/>
          </a:xfrm>
        </p:spPr>
        <p:txBody>
          <a:bodyPr/>
          <a:lstStyle/>
          <a:p>
            <a:r>
              <a:rPr lang="en-IN" dirty="0"/>
              <a:t>Movie found: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73FD783-5887-52E6-8BAF-77A5FBF960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215300" y="1240173"/>
            <a:ext cx="9624766" cy="54139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847132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  <p:sndAc>
          <p:stSnd>
            <p:snd r:embed="rId2" name="camera.wav"/>
          </p:stSnd>
        </p:sndAc>
      </p:transition>
    </mc:Choice>
    <mc:Fallback xmlns="">
      <p:transition spd="slow">
        <p:fade/>
        <p:sndAc>
          <p:stSnd>
            <p:snd r:embed="rId4" name="camera.wav"/>
          </p:stSnd>
        </p:sndAc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CD6AD-9428-634B-850B-4BDAE3D9F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8260" y="-206587"/>
            <a:ext cx="8610600" cy="1293028"/>
          </a:xfrm>
        </p:spPr>
        <p:txBody>
          <a:bodyPr/>
          <a:lstStyle/>
          <a:p>
            <a:r>
              <a:rPr lang="en-IN" dirty="0"/>
              <a:t>All movies: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3316E7E-34EF-B096-4D83-29E5272B7F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195400" y="1272619"/>
            <a:ext cx="9672945" cy="54410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840763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  <p:sndAc>
          <p:stSnd>
            <p:snd r:embed="rId2" name="camera.wav"/>
          </p:stSnd>
        </p:sndAc>
      </p:transition>
    </mc:Choice>
    <mc:Fallback xmlns="">
      <p:transition spd="slow">
        <p:fade/>
        <p:sndAc>
          <p:stSnd>
            <p:snd r:embed="rId4" name="camera.wav"/>
          </p:stSnd>
        </p:sndAc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4D254-C0A1-29F4-2595-4E238A0D8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747" y="1472326"/>
            <a:ext cx="9601196" cy="4683377"/>
          </a:xfrm>
        </p:spPr>
        <p:txBody>
          <a:bodyPr>
            <a:normAutofit/>
          </a:bodyPr>
          <a:lstStyle/>
          <a:p>
            <a:r>
              <a:rPr lang="en-IN" sz="9600" u="sng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8367661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  <p:sndAc>
          <p:stSnd>
            <p:snd r:embed="rId2" name="camera.wav"/>
          </p:stSnd>
        </p:sndAc>
      </p:transition>
    </mc:Choice>
    <mc:Fallback xmlns="">
      <p:transition spd="slow">
        <p:fade/>
        <p:sndAc>
          <p:stSnd>
            <p:snd r:embed="rId3" name="camera.wav"/>
          </p:stSnd>
        </p:sndAc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752</TotalTime>
  <Words>605</Words>
  <Application>Microsoft Office PowerPoint</Application>
  <PresentationFormat>Widescreen</PresentationFormat>
  <Paragraphs>77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Calibri</vt:lpstr>
      <vt:lpstr>Calisto MT</vt:lpstr>
      <vt:lpstr>Symbol</vt:lpstr>
      <vt:lpstr>Times New Roman</vt:lpstr>
      <vt:lpstr>Wingdings 2</vt:lpstr>
      <vt:lpstr>Slate</vt:lpstr>
      <vt:lpstr>MovieFlix OTT Platform </vt:lpstr>
      <vt:lpstr>Introduction </vt:lpstr>
      <vt:lpstr>Objectives</vt:lpstr>
      <vt:lpstr>Objectives</vt:lpstr>
      <vt:lpstr>Project Profile</vt:lpstr>
      <vt:lpstr>Targeted users</vt:lpstr>
      <vt:lpstr>Project Definition</vt:lpstr>
      <vt:lpstr>Assumption</vt:lpstr>
      <vt:lpstr>Constraints</vt:lpstr>
      <vt:lpstr>Advantages</vt:lpstr>
      <vt:lpstr>Limitations</vt:lpstr>
      <vt:lpstr>Requirement Determination</vt:lpstr>
      <vt:lpstr> Screenshot’s</vt:lpstr>
      <vt:lpstr>Home page:</vt:lpstr>
      <vt:lpstr>Register Page:</vt:lpstr>
      <vt:lpstr>Login Page</vt:lpstr>
      <vt:lpstr>Log Out</vt:lpstr>
      <vt:lpstr>Search movies</vt:lpstr>
      <vt:lpstr>Movie found:</vt:lpstr>
      <vt:lpstr>All movies: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Nandini Bhavsar</dc:creator>
  <cp:lastModifiedBy>Raj Jain</cp:lastModifiedBy>
  <cp:revision>59</cp:revision>
  <dcterms:created xsi:type="dcterms:W3CDTF">2024-08-08T06:13:35Z</dcterms:created>
  <dcterms:modified xsi:type="dcterms:W3CDTF">2024-09-26T08:40:46Z</dcterms:modified>
</cp:coreProperties>
</file>